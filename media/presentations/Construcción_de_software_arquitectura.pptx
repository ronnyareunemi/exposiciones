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330" r:id="rId3"/>
    <p:sldId id="259" r:id="rId4"/>
    <p:sldId id="301" r:id="rId5"/>
    <p:sldId id="304" r:id="rId6"/>
    <p:sldId id="305" r:id="rId7"/>
    <p:sldId id="329" r:id="rId8"/>
    <p:sldId id="331" r:id="rId9"/>
    <p:sldId id="314" r:id="rId10"/>
    <p:sldId id="339" r:id="rId11"/>
    <p:sldId id="315" r:id="rId12"/>
    <p:sldId id="316" r:id="rId13"/>
    <p:sldId id="317" r:id="rId14"/>
    <p:sldId id="335" r:id="rId15"/>
    <p:sldId id="318" r:id="rId16"/>
    <p:sldId id="332" r:id="rId17"/>
    <p:sldId id="334" r:id="rId18"/>
    <p:sldId id="333" r:id="rId19"/>
    <p:sldId id="294" r:id="rId20"/>
    <p:sldId id="336" r:id="rId21"/>
    <p:sldId id="337" r:id="rId22"/>
    <p:sldId id="338" r:id="rId23"/>
    <p:sldId id="276" r:id="rId2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Medium" panose="000006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D2B7EE-B29A-44C8-AE6B-D6D41656D997}">
  <a:tblStyle styleId="{80D2B7EE-B29A-44C8-AE6B-D6D41656D9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e96733da1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de96733da1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e96733da1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de96733da1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1261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e96733da1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de96733da1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2144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e96733da1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de96733da1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3473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98168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C7CADF-C7F0-401E-8861-69319D9EF1CD}" type="slidenum">
              <a:rPr lang="es-EC" smtClean="0"/>
              <a:t>19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5536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96733da1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96733da1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E45"/>
              </a:buClr>
              <a:buSzPts val="2600"/>
              <a:buNone/>
              <a:defRPr sz="2600">
                <a:solidFill>
                  <a:srgbClr val="002E4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991101"/>
            <a:ext cx="7886700" cy="3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E45"/>
              </a:buClr>
              <a:buSzPts val="2600"/>
              <a:buFont typeface="Montserrat"/>
              <a:buNone/>
              <a:defRPr sz="2600" b="1" i="0" u="none" strike="noStrike" cap="none">
                <a:solidFill>
                  <a:srgbClr val="002E4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991101"/>
            <a:ext cx="7886700" cy="3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Char char="•"/>
              <a:defRPr sz="2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Medium"/>
              <a:buChar char="•"/>
              <a:defRPr sz="24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Char char="•"/>
              <a:defRPr sz="20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 sz="180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ctrTitle"/>
          </p:nvPr>
        </p:nvSpPr>
        <p:spPr>
          <a:xfrm>
            <a:off x="838200" y="2822973"/>
            <a:ext cx="7772400" cy="33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Facultad Ciencias de la Ingeniería, Carrera Software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816075" y="3036125"/>
            <a:ext cx="7993200" cy="75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400" dirty="0">
                <a:solidFill>
                  <a:schemeClr val="lt1"/>
                </a:solidFill>
              </a:rPr>
              <a:t>ARQUITECTURAS</a:t>
            </a:r>
            <a:r>
              <a:rPr lang="es-419" sz="3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 SOFTWARE</a:t>
            </a:r>
            <a:endParaRPr sz="3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892275" y="3956225"/>
            <a:ext cx="7993200" cy="702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00" b="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Docente: </a:t>
            </a:r>
            <a:r>
              <a:rPr lang="es-419" sz="1400" b="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Josué Guevara</a:t>
            </a:r>
            <a:endParaRPr sz="1400" b="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5B263E9-9DEE-2917-2BA5-935D3210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5" y="1080000"/>
            <a:ext cx="8824950" cy="1837350"/>
          </a:xfrm>
        </p:spPr>
        <p:txBody>
          <a:bodyPr>
            <a:normAutofit/>
          </a:bodyPr>
          <a:lstStyle/>
          <a:p>
            <a:pPr algn="ctr"/>
            <a:r>
              <a:rPr lang="es-419" sz="3200" dirty="0"/>
              <a:t>EL GRAN VALOR</a:t>
            </a:r>
            <a:br>
              <a:rPr lang="es-419" sz="3200" dirty="0"/>
            </a:br>
            <a:br>
              <a:rPr lang="es-419" sz="3200" dirty="0"/>
            </a:br>
            <a:r>
              <a:rPr lang="es-419" sz="3200" dirty="0"/>
              <a:t>¿</a:t>
            </a:r>
            <a:r>
              <a:rPr lang="es-EC" sz="3200" dirty="0"/>
              <a:t>Funcionalidad o Arquitectura?</a:t>
            </a:r>
          </a:p>
        </p:txBody>
      </p:sp>
    </p:spTree>
    <p:extLst>
      <p:ext uri="{BB962C8B-B14F-4D97-AF65-F5344CB8AC3E}">
        <p14:creationId xmlns:p14="http://schemas.microsoft.com/office/powerpoint/2010/main" val="97439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554308" y="1011936"/>
            <a:ext cx="5053536" cy="276758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2400" b="1" dirty="0">
                <a:latin typeface="+mn-lt"/>
              </a:rPr>
              <a:t>Actividad lluvia de Ideas</a:t>
            </a:r>
            <a:endParaRPr sz="2400" b="1" dirty="0">
              <a:latin typeface="+mn-lt"/>
            </a:endParaRPr>
          </a:p>
          <a:p>
            <a:pPr marL="88900" lvl="0" indent="0" algn="just" rtl="0"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s-419" sz="2400" dirty="0">
                <a:latin typeface="+mn-lt"/>
              </a:rPr>
              <a:t>Tema</a:t>
            </a:r>
            <a:r>
              <a:rPr lang="es-419" dirty="0">
                <a:latin typeface="+mn-lt"/>
              </a:rPr>
              <a:t>: </a:t>
            </a:r>
            <a:r>
              <a:rPr lang="es-419" sz="2400" dirty="0">
                <a:latin typeface="+mn-lt"/>
              </a:rPr>
              <a:t>¿</a:t>
            </a:r>
            <a:r>
              <a:rPr lang="es-EC" sz="2400" dirty="0">
                <a:latin typeface="+mn-lt"/>
              </a:rPr>
              <a:t>Qué se necesita tener en cuenta al desear construir un edificio sólido</a:t>
            </a:r>
            <a:r>
              <a:rPr lang="es-419" sz="2400" dirty="0">
                <a:latin typeface="+mn-lt"/>
              </a:rPr>
              <a:t>?</a:t>
            </a:r>
            <a:endParaRPr sz="2400" dirty="0">
              <a:latin typeface="+mn-lt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2" name="Picture 2" descr="Viabilidad">
            <a:extLst>
              <a:ext uri="{FF2B5EF4-FFF2-40B4-BE49-F238E27FC236}">
                <a16:creationId xmlns:a16="http://schemas.microsoft.com/office/drawing/2014/main" id="{5BA5726A-6C8E-419B-AB21-030355F1CD5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839" y="880062"/>
            <a:ext cx="1746047" cy="303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554308" y="1011936"/>
            <a:ext cx="4773596" cy="276758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C" dirty="0">
                <a:latin typeface="+mn-lt"/>
              </a:rPr>
              <a:t>“No se necesita una gran cantidad de conocimientos y habilidades para hacer funcional un programa.” [</a:t>
            </a:r>
            <a:r>
              <a:rPr lang="es-EC" dirty="0" err="1">
                <a:latin typeface="+mn-lt"/>
              </a:rPr>
              <a:t>Clean</a:t>
            </a:r>
            <a:r>
              <a:rPr lang="es-EC" dirty="0">
                <a:latin typeface="+mn-lt"/>
              </a:rPr>
              <a:t> </a:t>
            </a:r>
            <a:r>
              <a:rPr lang="es-EC" dirty="0" err="1">
                <a:latin typeface="+mn-lt"/>
              </a:rPr>
              <a:t>Arquitecture</a:t>
            </a:r>
            <a:r>
              <a:rPr lang="es-EC" dirty="0">
                <a:latin typeface="+mn-lt"/>
              </a:rPr>
              <a:t>, 2018]</a:t>
            </a:r>
            <a:endParaRPr dirty="0">
              <a:latin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8AA850-5B62-5AAC-6DFE-E5F74689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47" y="1241198"/>
            <a:ext cx="2072820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0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EED399-4E47-75A0-F2AE-CF00609D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887" y="572456"/>
            <a:ext cx="4711446" cy="3641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s-EC" dirty="0">
                <a:latin typeface="+mn-lt"/>
              </a:rPr>
              <a:t>Hoy en día en común ver niños, hombres y mujeres iniciando un negocio con pocas líneas de código.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C" dirty="0">
                <a:latin typeface="+mn-lt"/>
              </a:rPr>
              <a:t>Desarrolladores empleando su mayor esfuerzo en dar seguimiento a los problemas del software y documentarlos para que funcionen.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C" dirty="0">
                <a:latin typeface="+mn-lt"/>
              </a:rPr>
              <a:t>Los códigos que se producen pueden no ser atractivos, pero tienen funcionalidad.</a:t>
            </a:r>
          </a:p>
        </p:txBody>
      </p:sp>
      <p:pic>
        <p:nvPicPr>
          <p:cNvPr id="1026" name="Picture 2" descr="Imágenes de Nino Programando - Descarga gratuita en Freepik">
            <a:extLst>
              <a:ext uri="{FF2B5EF4-FFF2-40B4-BE49-F238E27FC236}">
                <a16:creationId xmlns:a16="http://schemas.microsoft.com/office/drawing/2014/main" id="{B81F5E04-1233-4855-A991-ABD7DB66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096" y="950022"/>
            <a:ext cx="20002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gramando GIFs - Find &amp; Share on GIPHY">
            <a:extLst>
              <a:ext uri="{FF2B5EF4-FFF2-40B4-BE49-F238E27FC236}">
                <a16:creationId xmlns:a16="http://schemas.microsoft.com/office/drawing/2014/main" id="{8CC95F2D-E592-4BF1-A1CB-09ACE1F6CD0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574" y="2814638"/>
            <a:ext cx="2423817" cy="181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16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04D360-9CCD-98D5-4B26-0F0064191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45" y="1125213"/>
            <a:ext cx="4269755" cy="3350143"/>
          </a:xfrm>
        </p:spPr>
        <p:txBody>
          <a:bodyPr>
            <a:normAutofit/>
          </a:bodyPr>
          <a:lstStyle/>
          <a:p>
            <a:pPr algn="just"/>
            <a:r>
              <a:rPr lang="es-EC" dirty="0">
                <a:latin typeface="+mn-lt"/>
              </a:rPr>
              <a:t>El objetivo de la arquitectura de software es minimizar los recursos humanos para construir y mantener el software requerido.</a:t>
            </a:r>
          </a:p>
          <a:p>
            <a:pPr algn="just"/>
            <a:r>
              <a:rPr lang="es-EC" dirty="0">
                <a:latin typeface="+mn-lt"/>
              </a:rPr>
              <a:t>Para medir el diseño, requerimos analizar el esfuerzo de mantener el software.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5B263E9-9DEE-2917-2BA5-935D3210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1013"/>
            <a:ext cx="7886700" cy="994200"/>
          </a:xfrm>
        </p:spPr>
        <p:txBody>
          <a:bodyPr/>
          <a:lstStyle/>
          <a:p>
            <a:r>
              <a:rPr lang="es-419" dirty="0"/>
              <a:t>¿</a:t>
            </a:r>
            <a:r>
              <a:rPr lang="es-EC" dirty="0"/>
              <a:t>Qué es diseño y arquitectura en el desarrollo de Software?</a:t>
            </a:r>
          </a:p>
        </p:txBody>
      </p:sp>
      <p:pic>
        <p:nvPicPr>
          <p:cNvPr id="1026" name="Picture 2" descr="30 proyectos de arquitectura explicados a través de gifs ...">
            <a:extLst>
              <a:ext uri="{FF2B5EF4-FFF2-40B4-BE49-F238E27FC236}">
                <a16:creationId xmlns:a16="http://schemas.microsoft.com/office/drawing/2014/main" id="{848A7511-FE18-4F90-9598-3BC27E9B275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083" y="1267200"/>
            <a:ext cx="2847067" cy="24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4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913933" y="1893696"/>
            <a:ext cx="4773596" cy="10040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C" dirty="0">
                <a:latin typeface="+mn-lt"/>
              </a:rPr>
              <a:t>“La única manera de ir rápido, es hacerlo bien.” [</a:t>
            </a:r>
            <a:r>
              <a:rPr lang="es-EC" dirty="0" err="1">
                <a:latin typeface="+mn-lt"/>
              </a:rPr>
              <a:t>Clean</a:t>
            </a:r>
            <a:r>
              <a:rPr lang="es-EC" dirty="0">
                <a:latin typeface="+mn-lt"/>
              </a:rPr>
              <a:t> </a:t>
            </a:r>
            <a:r>
              <a:rPr lang="es-EC" dirty="0" err="1">
                <a:latin typeface="+mn-lt"/>
              </a:rPr>
              <a:t>Arquitecture</a:t>
            </a:r>
            <a:r>
              <a:rPr lang="es-EC" dirty="0">
                <a:latin typeface="+mn-lt"/>
              </a:rPr>
              <a:t>, 2018]</a:t>
            </a:r>
            <a:endParaRPr dirty="0">
              <a:latin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8AA850-5B62-5AAC-6DFE-E5F74689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47" y="1241198"/>
            <a:ext cx="2072820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0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100800" y="417600"/>
            <a:ext cx="6869580" cy="358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s-ES" dirty="0">
                <a:latin typeface="+mn-lt"/>
              </a:rPr>
              <a:t> Si tenemos un programa que funciona perfectamente pero es imposible de cambiar, entonces No funcionará cuando los requisitos cambien y no podremos hacerlo funcionar. Por lo tanto el programa quedará inútil.</a:t>
            </a:r>
          </a:p>
          <a:p>
            <a:pPr marL="285750" lvl="0" indent="-285750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s-ES" dirty="0">
                <a:latin typeface="+mn-lt"/>
              </a:rPr>
              <a:t>Si tenemos un programa que no funciona pero que es fácil de cambiar, entonces podemos hacer que funcione y mantenerlo funcionando a medida que cambien los requisitos. Por lo tanto el programa seguirá siendo continuamente útil.</a:t>
            </a:r>
            <a:endParaRPr dirty="0">
              <a:latin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8AA850-5B62-5AAC-6DFE-E5F74689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380" y="1233998"/>
            <a:ext cx="2072820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4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0406-8881-C2F6-7169-DCBDD778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6" y="85671"/>
            <a:ext cx="7886700" cy="994200"/>
          </a:xfrm>
        </p:spPr>
        <p:txBody>
          <a:bodyPr/>
          <a:lstStyle/>
          <a:p>
            <a:pPr algn="ctr"/>
            <a:r>
              <a:rPr lang="es-419" dirty="0">
                <a:solidFill>
                  <a:srgbClr val="101828"/>
                </a:solidFill>
                <a:latin typeface="+mj-lt"/>
              </a:rPr>
              <a:t>¿Qué es la arquitectura de software?</a:t>
            </a:r>
            <a:br>
              <a:rPr lang="pt-BR" b="1" i="0" dirty="0">
                <a:solidFill>
                  <a:srgbClr val="101828"/>
                </a:solidFill>
                <a:effectLst/>
                <a:latin typeface="+mj-lt"/>
              </a:rPr>
            </a:br>
            <a:endParaRPr lang="es-EC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C3C08E-B49B-493F-BA37-6F036682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00" y="940950"/>
            <a:ext cx="7221600" cy="32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0406-8881-C2F6-7169-DCBDD778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46" y="425655"/>
            <a:ext cx="7886700" cy="994200"/>
          </a:xfrm>
        </p:spPr>
        <p:txBody>
          <a:bodyPr/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Patrones</a:t>
            </a:r>
            <a:r>
              <a:rPr lang="pt-BR" b="1" i="0" dirty="0">
                <a:solidFill>
                  <a:srgbClr val="101828"/>
                </a:solidFill>
                <a:effectLst/>
                <a:latin typeface="+mj-lt"/>
              </a:rPr>
              <a:t> de </a:t>
            </a:r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arquitectura</a:t>
            </a:r>
            <a:r>
              <a:rPr lang="pt-BR" b="1" i="0" dirty="0">
                <a:solidFill>
                  <a:srgbClr val="101828"/>
                </a:solidFill>
                <a:effectLst/>
                <a:latin typeface="+mj-lt"/>
              </a:rPr>
              <a:t> de software</a:t>
            </a:r>
            <a:br>
              <a:rPr lang="pt-BR" b="1" i="0" dirty="0">
                <a:solidFill>
                  <a:srgbClr val="101828"/>
                </a:solidFill>
                <a:effectLst/>
                <a:latin typeface="+mj-lt"/>
              </a:rPr>
            </a:br>
            <a:endParaRPr lang="es-EC" dirty="0">
              <a:latin typeface="+mj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3488F3-2093-684A-E4DA-8F1F086BA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546" y="1076445"/>
            <a:ext cx="4552950" cy="3641400"/>
          </a:xfrm>
        </p:spPr>
        <p:txBody>
          <a:bodyPr/>
          <a:lstStyle/>
          <a:p>
            <a:pPr marL="114300" indent="0" algn="just">
              <a:buNone/>
            </a:pPr>
            <a:r>
              <a:rPr lang="es-EC" b="1" i="0" dirty="0">
                <a:solidFill>
                  <a:srgbClr val="101828"/>
                </a:solidFill>
                <a:effectLst/>
                <a:latin typeface="+mn-lt"/>
              </a:rPr>
              <a:t>Patrón cliente-servidor</a:t>
            </a:r>
          </a:p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El patrón cliente servidor es muy usado sobre todo en el diseño de webs y servicios online, y se basa en el concepto de la existencia de un servidor (que proporciona el servicio) y una serie de clientes, que piden al servidor y reciben una respuesta del mismo.</a:t>
            </a:r>
            <a:endParaRPr lang="es-EC" b="1" i="0" dirty="0">
              <a:solidFill>
                <a:srgbClr val="101828"/>
              </a:solidFill>
              <a:effectLst/>
              <a:latin typeface="+mn-lt"/>
            </a:endParaRPr>
          </a:p>
          <a:p>
            <a:pPr algn="just"/>
            <a:endParaRPr lang="es-EC" dirty="0">
              <a:latin typeface="+mn-lt"/>
            </a:endParaRPr>
          </a:p>
        </p:txBody>
      </p:sp>
      <p:pic>
        <p:nvPicPr>
          <p:cNvPr id="4098" name="Picture 2" descr="Imagen 0 en Arquitectura de software: Qué es y qué tipos existen">
            <a:extLst>
              <a:ext uri="{FF2B5EF4-FFF2-40B4-BE49-F238E27FC236}">
                <a16:creationId xmlns:a16="http://schemas.microsoft.com/office/drawing/2014/main" id="{3E90E829-ACDC-D57C-AB9B-6328ECD3E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438466"/>
            <a:ext cx="3975354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2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07783-9AA5-47A3-724C-3FFE9359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Patrón de capas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endParaRPr lang="es-EC" dirty="0">
              <a:latin typeface="+mj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3CC69D-76A1-4926-9FCA-E340848D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91101"/>
            <a:ext cx="4028694" cy="3641400"/>
          </a:xfrm>
        </p:spPr>
        <p:txBody>
          <a:bodyPr/>
          <a:lstStyle/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En este patrón se subdivide la estructura del programa en un número de capas que representan una subtarea, cada una perteneciendo a un nivel de abstracción diferente. Cada capa está diseñada para proporcionar un servicio a la siguiente capa de mayor nivel. Generalmente se utilizan las siguientes capas:</a:t>
            </a:r>
            <a:endParaRPr lang="es-EC" dirty="0">
              <a:latin typeface="+mn-lt"/>
            </a:endParaRPr>
          </a:p>
        </p:txBody>
      </p:sp>
      <p:pic>
        <p:nvPicPr>
          <p:cNvPr id="5122" name="Picture 2" descr="Imagen 1 en Arquitectura de software: Qué es y qué tipos existen">
            <a:extLst>
              <a:ext uri="{FF2B5EF4-FFF2-40B4-BE49-F238E27FC236}">
                <a16:creationId xmlns:a16="http://schemas.microsoft.com/office/drawing/2014/main" id="{EC47F62D-05C6-2A63-12B2-B5E45003F1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0" r="24915"/>
          <a:stretch/>
        </p:blipFill>
        <p:spPr bwMode="auto">
          <a:xfrm>
            <a:off x="5939882" y="435943"/>
            <a:ext cx="2312020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29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07783-9AA5-47A3-724C-3FFE9359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Patrón master-</a:t>
            </a:r>
            <a:r>
              <a:rPr lang="es-EC" b="1" i="0" dirty="0" err="1">
                <a:solidFill>
                  <a:srgbClr val="101828"/>
                </a:solidFill>
                <a:effectLst/>
                <a:latin typeface="+mj-lt"/>
              </a:rPr>
              <a:t>slave</a:t>
            </a:r>
            <a:endParaRPr lang="es-EC" b="1" i="0" dirty="0">
              <a:solidFill>
                <a:srgbClr val="101828"/>
              </a:solidFill>
              <a:effectLst/>
              <a:latin typeface="+mj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3CC69D-76A1-4926-9FCA-E340848D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91101"/>
            <a:ext cx="4028694" cy="3641400"/>
          </a:xfrm>
        </p:spPr>
        <p:txBody>
          <a:bodyPr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Este patrón consiste en dos grupos, el primero es llamado el maestro (master) y el otro el grupo de esclavos (</a:t>
            </a:r>
            <a:r>
              <a:rPr lang="es-EC" b="0" i="0" dirty="0" err="1">
                <a:solidFill>
                  <a:srgbClr val="101828"/>
                </a:solidFill>
                <a:effectLst/>
                <a:latin typeface="+mn-lt"/>
              </a:rPr>
              <a:t>slaves</a:t>
            </a: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). Los esclavos realizan la tarea propuesta por el maestro, computan los resultados y los envían de nuevo a este, quien los presenta, almacena o procesa. Esto se realiza así para tener una parte que autoriza y dirige los cálculos necesarios y otras partes que lo procesan de manera agnóstica a estas decisiones.</a:t>
            </a:r>
            <a:endParaRPr lang="es-EC" dirty="0">
              <a:latin typeface="+mn-lt"/>
            </a:endParaRPr>
          </a:p>
        </p:txBody>
      </p:sp>
      <p:pic>
        <p:nvPicPr>
          <p:cNvPr id="6146" name="Picture 2" descr="Imagen 2 en Arquitectura de software: Qué es y qué tipos existen">
            <a:extLst>
              <a:ext uri="{FF2B5EF4-FFF2-40B4-BE49-F238E27FC236}">
                <a16:creationId xmlns:a16="http://schemas.microsoft.com/office/drawing/2014/main" id="{D178C33F-F496-FB62-C02A-3AA66A9EF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134" y="1410991"/>
            <a:ext cx="3633216" cy="212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78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56D46-68A8-028D-C50D-E499F6E9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Patrón modelo-vista-controlador (MVC)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br>
              <a:rPr lang="es-EC" dirty="0">
                <a:latin typeface="+mj-lt"/>
              </a:rPr>
            </a:br>
            <a:endParaRPr lang="es-EC" dirty="0">
              <a:latin typeface="+mj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A4B560-6B62-0603-0144-B41BB9331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872" y="751050"/>
            <a:ext cx="6082934" cy="3641400"/>
          </a:xfrm>
        </p:spPr>
        <p:txBody>
          <a:bodyPr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Este famoso patrón, también conocido como patrón MVC, divide una aplicación interactiva en tres partes diferenciadas: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Modelo: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Contiene la funcionalidad central y los datos.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Vista: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Decide que información mostrar y cómo mostrarla.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Controlador: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Es quien responde a las peticiones, decide que vista usar y si es necesaria manejar información accede al modelo.</a:t>
            </a:r>
          </a:p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Este patrón es muy popular en el desarrollo de aplicaciones web, tanto en el caso de la parte back-</a:t>
            </a:r>
            <a:r>
              <a:rPr lang="es-EC" b="0" i="0" dirty="0" err="1">
                <a:solidFill>
                  <a:srgbClr val="101828"/>
                </a:solidFill>
                <a:effectLst/>
                <a:latin typeface="+mn-lt"/>
              </a:rPr>
              <a:t>end</a:t>
            </a: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 y </a:t>
            </a:r>
            <a:r>
              <a:rPr lang="es-EC" dirty="0">
                <a:solidFill>
                  <a:srgbClr val="101828"/>
                </a:solidFill>
                <a:latin typeface="+mn-lt"/>
              </a:rPr>
              <a:t>el</a:t>
            </a: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 </a:t>
            </a:r>
            <a:r>
              <a:rPr lang="es-EC" b="0" i="0" dirty="0" err="1">
                <a:solidFill>
                  <a:srgbClr val="101828"/>
                </a:solidFill>
                <a:effectLst/>
                <a:latin typeface="+mn-lt"/>
              </a:rPr>
              <a:t>front-end</a:t>
            </a:r>
            <a:r>
              <a:rPr lang="es-EC" dirty="0">
                <a:solidFill>
                  <a:srgbClr val="101828"/>
                </a:solidFill>
                <a:latin typeface="+mn-lt"/>
              </a:rPr>
              <a:t>.</a:t>
            </a:r>
            <a:endParaRPr lang="es-EC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406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A0009-C582-4447-B781-8CE5A8FC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Aspectos Claves – </a:t>
            </a:r>
            <a:r>
              <a:rPr lang="es-419" dirty="0" err="1"/>
              <a:t>Trade</a:t>
            </a:r>
            <a:r>
              <a:rPr lang="es-419" dirty="0"/>
              <a:t>-off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78F2E-8CE2-4D9B-A496-1D43F1AED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/>
              <a:t>Rendimiento: </a:t>
            </a:r>
            <a:r>
              <a:rPr lang="es-ES" dirty="0"/>
              <a:t>Tiempo de respuesta del sistema y manejo de carga.</a:t>
            </a:r>
          </a:p>
          <a:p>
            <a:r>
              <a:rPr lang="es-ES" b="1" dirty="0"/>
              <a:t>Escalabilidad: </a:t>
            </a:r>
            <a:r>
              <a:rPr lang="es-ES" dirty="0"/>
              <a:t>Capacidad del sistema para manejar el aumento de carga de trabajo.</a:t>
            </a:r>
          </a:p>
          <a:p>
            <a:r>
              <a:rPr lang="es-ES" b="1" dirty="0"/>
              <a:t>Reusabilidad: </a:t>
            </a:r>
            <a:r>
              <a:rPr lang="es-ES" dirty="0"/>
              <a:t>Capacidad de usar componentes de software en diferentes sistemas o en diferentes contextos dentro del mismo sistema.</a:t>
            </a:r>
          </a:p>
          <a:p>
            <a:r>
              <a:rPr lang="es-ES" b="1" dirty="0"/>
              <a:t>Mantenibilidad: </a:t>
            </a:r>
            <a:r>
              <a:rPr lang="es-ES" dirty="0"/>
              <a:t>Facilidad con la que el software puede ser modificado para corregir defectos, mejorar su desempeño o adaptarse a cambios del entorno.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85199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E666815-CF28-38D3-9453-B622066B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944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Django – 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Patrón </a:t>
            </a:r>
            <a:r>
              <a:rPr lang="es-EC" dirty="0">
                <a:solidFill>
                  <a:srgbClr val="101828"/>
                </a:solidFill>
                <a:latin typeface="+mj-lt"/>
              </a:rPr>
              <a:t>M</a:t>
            </a:r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odelo - Vista- Template (MVT)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br>
              <a:rPr lang="es-EC" dirty="0">
                <a:latin typeface="+mj-lt"/>
              </a:rPr>
            </a:br>
            <a:endParaRPr lang="es-EC" dirty="0">
              <a:latin typeface="+mj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261C9A-D5A4-47B3-B50A-BC9DFC69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0" y="1023721"/>
            <a:ext cx="6982799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04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56D46-68A8-028D-C50D-E499F6E9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Patrón modelo-vista-controlador (MVT)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br>
              <a:rPr lang="es-EC" dirty="0">
                <a:latin typeface="+mj-lt"/>
              </a:rPr>
            </a:br>
            <a:endParaRPr lang="es-EC" dirty="0">
              <a:latin typeface="+mj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A4B560-6B62-0603-0144-B41BB9331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59519"/>
            <a:ext cx="6082934" cy="364140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Modelo: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Contiene la funcionalidad central y los datos.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Vista: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Enlace entre el modelo y el </a:t>
            </a:r>
            <a:r>
              <a:rPr lang="es-EC" b="0" i="0" dirty="0" err="1">
                <a:solidFill>
                  <a:srgbClr val="000000"/>
                </a:solidFill>
                <a:effectLst/>
                <a:latin typeface="+mn-lt"/>
              </a:rPr>
              <a:t>template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00000"/>
                </a:solidFill>
                <a:latin typeface="+mn-lt"/>
              </a:rPr>
              <a:t>Template</a:t>
            </a:r>
            <a:r>
              <a:rPr lang="es-EC" b="1" i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s-EC" b="0" i="0" dirty="0">
                <a:solidFill>
                  <a:srgbClr val="000000"/>
                </a:solidFill>
                <a:effectLst/>
                <a:latin typeface="+mn-lt"/>
              </a:rPr>
              <a:t> Decide como será mostrada la información.</a:t>
            </a:r>
          </a:p>
          <a:p>
            <a:pPr marL="114300" indent="0" algn="just">
              <a:buNone/>
            </a:pPr>
            <a:r>
              <a:rPr lang="es-EC" b="0" i="0" dirty="0">
                <a:solidFill>
                  <a:srgbClr val="101828"/>
                </a:solidFill>
                <a:effectLst/>
                <a:latin typeface="+mn-lt"/>
              </a:rPr>
              <a:t>El controlador en lo práctico es todo el entorno Django.</a:t>
            </a:r>
            <a:endParaRPr lang="es-EC" dirty="0"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703C72-EF4B-4BE9-A38C-5BD3A908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934" y="1426744"/>
            <a:ext cx="3061066" cy="210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10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A0009-C582-4447-B781-8CE5A8FC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Características Claves – Aplicación MVT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78F2E-8CE2-4D9B-A496-1D43F1AED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/>
              <a:t>Alta cohesión: </a:t>
            </a:r>
            <a:r>
              <a:rPr lang="es-ES" dirty="0"/>
              <a:t>Cada servicio se centra en una sola capacidad o función de negocio.</a:t>
            </a:r>
          </a:p>
          <a:p>
            <a:r>
              <a:rPr lang="es-ES" b="1" dirty="0"/>
              <a:t>Baja dependencia: </a:t>
            </a:r>
            <a:r>
              <a:rPr lang="es-ES" dirty="0"/>
              <a:t>Los servicios son independientes entre sí, lo que minimiza las dependencias cruzadas.</a:t>
            </a:r>
          </a:p>
          <a:p>
            <a:r>
              <a:rPr lang="es-ES" b="1" dirty="0"/>
              <a:t>Escalabilidad: </a:t>
            </a:r>
            <a:r>
              <a:rPr lang="es-ES" dirty="0"/>
              <a:t>Pueden ser escalados de manera independiente, lo que permite optimizar recursos específicamente para las funciones que requieren más capacidad.</a:t>
            </a:r>
          </a:p>
          <a:p>
            <a:r>
              <a:rPr lang="es-ES" b="1" dirty="0"/>
              <a:t>Desarrollo descentralizado: </a:t>
            </a:r>
            <a:r>
              <a:rPr lang="es-ES" dirty="0"/>
              <a:t>Diferentes equipos pueden desarrollar, desplegar y escalar sus servicios de forma independiente.</a:t>
            </a:r>
          </a:p>
          <a:p>
            <a:r>
              <a:rPr lang="es-ES" b="1" dirty="0"/>
              <a:t>Tolerancia a fallos: </a:t>
            </a:r>
            <a:r>
              <a:rPr lang="es-ES" dirty="0"/>
              <a:t>Un fallo en un servicio no necesariamente afecta a los demás.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91242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56D46-68A8-028D-C50D-E499F6E9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b="1" i="0" dirty="0">
                <a:solidFill>
                  <a:srgbClr val="101828"/>
                </a:solidFill>
                <a:effectLst/>
                <a:latin typeface="+mj-lt"/>
              </a:rPr>
              <a:t>Aplicación Patrón MVT – Gestión de Biblioteca.</a:t>
            </a:r>
            <a:br>
              <a:rPr lang="es-EC" b="1" i="0" dirty="0">
                <a:solidFill>
                  <a:srgbClr val="101828"/>
                </a:solidFill>
                <a:effectLst/>
                <a:latin typeface="+mj-lt"/>
              </a:rPr>
            </a:br>
            <a:br>
              <a:rPr lang="es-EC" dirty="0">
                <a:latin typeface="+mj-lt"/>
              </a:rPr>
            </a:br>
            <a:endParaRPr lang="es-EC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4B5800-7F18-4082-952A-E2F2F609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88" y="957037"/>
            <a:ext cx="8583223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86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idx="1"/>
          </p:nvPr>
        </p:nvSpPr>
        <p:spPr>
          <a:xfrm>
            <a:off x="466468" y="1388872"/>
            <a:ext cx="7983488" cy="3068828"/>
          </a:xfrm>
        </p:spPr>
        <p:txBody>
          <a:bodyPr>
            <a:normAutofit/>
          </a:bodyPr>
          <a:lstStyle/>
          <a:p>
            <a:pPr algn="just"/>
            <a:r>
              <a:rPr lang="es-EC" dirty="0"/>
              <a:t>https://gitlab.com/gysecomp/arquitectura.git </a:t>
            </a:r>
            <a:endParaRPr lang="es-MX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Box 56">
            <a:extLst>
              <a:ext uri="{FF2B5EF4-FFF2-40B4-BE49-F238E27FC236}">
                <a16:creationId xmlns:a16="http://schemas.microsoft.com/office/drawing/2014/main" id="{92BC89EB-E9AA-420C-A76D-67FCD2D997E9}"/>
              </a:ext>
            </a:extLst>
          </p:cNvPr>
          <p:cNvSpPr txBox="1"/>
          <p:nvPr/>
        </p:nvSpPr>
        <p:spPr>
          <a:xfrm>
            <a:off x="1293198" y="396554"/>
            <a:ext cx="59386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 err="1">
                <a:solidFill>
                  <a:schemeClr val="accent3">
                    <a:lumMod val="50000"/>
                  </a:schemeClr>
                </a:solidFill>
              </a:rPr>
              <a:t>gitlab</a:t>
            </a:r>
            <a:endParaRPr lang="en-US" sz="27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8" name="Group 78">
            <a:extLst>
              <a:ext uri="{FF2B5EF4-FFF2-40B4-BE49-F238E27FC236}">
                <a16:creationId xmlns:a16="http://schemas.microsoft.com/office/drawing/2014/main" id="{011092F7-51DD-4F28-B3AC-E39818AEC7F8}"/>
              </a:ext>
            </a:extLst>
          </p:cNvPr>
          <p:cNvGrpSpPr/>
          <p:nvPr/>
        </p:nvGrpSpPr>
        <p:grpSpPr>
          <a:xfrm>
            <a:off x="3638050" y="992212"/>
            <a:ext cx="1075867" cy="142875"/>
            <a:chOff x="4679586" y="878988"/>
            <a:chExt cx="1434489" cy="190500"/>
          </a:xfrm>
        </p:grpSpPr>
        <p:sp>
          <p:nvSpPr>
            <p:cNvPr id="9" name="Oval 70">
              <a:extLst>
                <a:ext uri="{FF2B5EF4-FFF2-40B4-BE49-F238E27FC236}">
                  <a16:creationId xmlns:a16="http://schemas.microsoft.com/office/drawing/2014/main" id="{A778DA80-2416-452F-954F-08D385756909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0" name="Oval 73">
              <a:extLst>
                <a:ext uri="{FF2B5EF4-FFF2-40B4-BE49-F238E27FC236}">
                  <a16:creationId xmlns:a16="http://schemas.microsoft.com/office/drawing/2014/main" id="{F5693804-A6DE-4FA4-B9E8-D5B10CB1BDE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Oval 75">
              <a:extLst>
                <a:ext uri="{FF2B5EF4-FFF2-40B4-BE49-F238E27FC236}">
                  <a16:creationId xmlns:a16="http://schemas.microsoft.com/office/drawing/2014/main" id="{51701925-82CC-46FF-83E0-86EC43BDF084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Oval 76">
              <a:extLst>
                <a:ext uri="{FF2B5EF4-FFF2-40B4-BE49-F238E27FC236}">
                  <a16:creationId xmlns:a16="http://schemas.microsoft.com/office/drawing/2014/main" id="{9A8D839C-EB87-404C-821B-A9416F91C148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Oval 77">
              <a:extLst>
                <a:ext uri="{FF2B5EF4-FFF2-40B4-BE49-F238E27FC236}">
                  <a16:creationId xmlns:a16="http://schemas.microsoft.com/office/drawing/2014/main" id="{2EB5F03F-78C6-4BA9-9741-F6D5274E9526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120133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635F4-6B85-478C-B0BB-312D3239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i="0" dirty="0">
                <a:solidFill>
                  <a:srgbClr val="0D0D0D"/>
                </a:solidFill>
                <a:effectLst/>
                <a:latin typeface="Söhne"/>
              </a:rPr>
              <a:t>Tendencias Futuras en Arquitectura de Software</a:t>
            </a:r>
            <a:br>
              <a:rPr lang="es-EC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F1F397-05A8-4C89-B4D3-08C66908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5" y="905757"/>
            <a:ext cx="8515350" cy="3641400"/>
          </a:xfrm>
        </p:spPr>
        <p:txBody>
          <a:bodyPr/>
          <a:lstStyle/>
          <a:p>
            <a:pPr algn="just"/>
            <a:r>
              <a:rPr lang="es-ES" dirty="0"/>
              <a:t>Las tendencias emergentes como la inteligencia artificial (IA), la computación en el borde (</a:t>
            </a:r>
            <a:r>
              <a:rPr lang="es-ES" dirty="0" err="1"/>
              <a:t>edge</a:t>
            </a:r>
            <a:r>
              <a:rPr lang="es-ES" dirty="0"/>
              <a:t> </a:t>
            </a:r>
            <a:r>
              <a:rPr lang="es-ES" dirty="0" err="1"/>
              <a:t>computing</a:t>
            </a:r>
            <a:r>
              <a:rPr lang="es-ES" dirty="0"/>
              <a:t>), y el Internet de las Cosas (</a:t>
            </a:r>
            <a:r>
              <a:rPr lang="es-ES" dirty="0" err="1"/>
              <a:t>IoT</a:t>
            </a:r>
            <a:r>
              <a:rPr lang="es-ES" dirty="0"/>
              <a:t>) están remodelando las prácticas arquitectónicas, presentando nuevas oportunidades y desafíos.</a:t>
            </a:r>
          </a:p>
          <a:p>
            <a:pPr algn="just"/>
            <a:r>
              <a:rPr lang="es-ES" dirty="0"/>
              <a:t> Estas tecnologías influyen en cómo los sistemas son diseñados, desplegados y mantenidos, y requieren que los arquitectos adopten enfoques más dinámicos y flexibles.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28917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D1C0C-378D-4799-929A-0200B619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Arquitectura impulsada por IA</a:t>
            </a:r>
            <a:br>
              <a:rPr lang="pt-BR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41E1F-2281-414C-AD75-990A4B522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856989"/>
            <a:ext cx="7886700" cy="1083549"/>
          </a:xfrm>
        </p:spPr>
        <p:txBody>
          <a:bodyPr/>
          <a:lstStyle/>
          <a:p>
            <a:r>
              <a:rPr lang="es-419" dirty="0"/>
              <a:t>Sistemas de recomendación.</a:t>
            </a:r>
          </a:p>
          <a:p>
            <a:r>
              <a:rPr lang="es-419" dirty="0"/>
              <a:t>Optimización Operativa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697FA10-AEF0-4E6D-B184-754012F26FE5}"/>
              </a:ext>
            </a:extLst>
          </p:cNvPr>
          <p:cNvSpPr txBox="1">
            <a:spLocks/>
          </p:cNvSpPr>
          <p:nvPr/>
        </p:nvSpPr>
        <p:spPr>
          <a:xfrm>
            <a:off x="628650" y="207465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E45"/>
              </a:buClr>
              <a:buSzPts val="2600"/>
              <a:buFont typeface="Montserrat"/>
              <a:buNone/>
              <a:defRPr sz="2600" b="1" i="0" u="none" strike="noStrike" cap="none">
                <a:solidFill>
                  <a:srgbClr val="002E4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>
                <a:solidFill>
                  <a:srgbClr val="0D0D0D"/>
                </a:solidFill>
                <a:latin typeface="Söhne"/>
              </a:rPr>
              <a:t>Concepto </a:t>
            </a:r>
            <a:r>
              <a:rPr lang="pt-BR" dirty="0" err="1">
                <a:solidFill>
                  <a:srgbClr val="0D0D0D"/>
                </a:solidFill>
                <a:latin typeface="Söhne"/>
              </a:rPr>
              <a:t>en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 </a:t>
            </a:r>
            <a:r>
              <a:rPr lang="pt-BR" dirty="0" err="1">
                <a:solidFill>
                  <a:srgbClr val="0D0D0D"/>
                </a:solidFill>
                <a:latin typeface="Söhne"/>
              </a:rPr>
              <a:t>el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 borde (Edge </a:t>
            </a:r>
            <a:r>
              <a:rPr lang="pt-BR" dirty="0" err="1">
                <a:solidFill>
                  <a:srgbClr val="0D0D0D"/>
                </a:solidFill>
                <a:latin typeface="Söhne"/>
              </a:rPr>
              <a:t>Computing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)</a:t>
            </a:r>
            <a:br>
              <a:rPr lang="pt-BR" dirty="0">
                <a:solidFill>
                  <a:srgbClr val="0D0D0D"/>
                </a:solidFill>
                <a:latin typeface="Söhne"/>
              </a:rPr>
            </a:br>
            <a:endParaRPr lang="es-EC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F765EACC-6760-4F6D-86B1-E734F213DD93}"/>
              </a:ext>
            </a:extLst>
          </p:cNvPr>
          <p:cNvSpPr txBox="1">
            <a:spLocks/>
          </p:cNvSpPr>
          <p:nvPr/>
        </p:nvSpPr>
        <p:spPr>
          <a:xfrm>
            <a:off x="628650" y="2527075"/>
            <a:ext cx="7886700" cy="108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419" dirty="0"/>
              <a:t>Vehículos autónomos</a:t>
            </a:r>
          </a:p>
          <a:p>
            <a:r>
              <a:rPr lang="es-419" dirty="0"/>
              <a:t>Manufactura Inteligente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9A5A28-8EC7-4D63-B9DA-6063A06D51AC}"/>
              </a:ext>
            </a:extLst>
          </p:cNvPr>
          <p:cNvSpPr txBox="1">
            <a:spLocks/>
          </p:cNvSpPr>
          <p:nvPr/>
        </p:nvSpPr>
        <p:spPr>
          <a:xfrm>
            <a:off x="628650" y="361062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E45"/>
              </a:buClr>
              <a:buSzPts val="2600"/>
              <a:buFont typeface="Montserrat"/>
              <a:buNone/>
              <a:defRPr sz="2600" b="1" i="0" u="none" strike="noStrike" cap="none">
                <a:solidFill>
                  <a:srgbClr val="002E4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>
                <a:solidFill>
                  <a:srgbClr val="0D0D0D"/>
                </a:solidFill>
                <a:latin typeface="Söhne"/>
              </a:rPr>
              <a:t>Internet de </a:t>
            </a:r>
            <a:r>
              <a:rPr lang="pt-BR" dirty="0" err="1">
                <a:solidFill>
                  <a:srgbClr val="0D0D0D"/>
                </a:solidFill>
                <a:latin typeface="Söhne"/>
              </a:rPr>
              <a:t>las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 Cosas (</a:t>
            </a:r>
            <a:r>
              <a:rPr lang="pt-BR" dirty="0" err="1">
                <a:solidFill>
                  <a:srgbClr val="0D0D0D"/>
                </a:solidFill>
                <a:latin typeface="Söhne"/>
              </a:rPr>
              <a:t>IoT</a:t>
            </a:r>
            <a:r>
              <a:rPr lang="pt-BR" dirty="0">
                <a:solidFill>
                  <a:srgbClr val="0D0D0D"/>
                </a:solidFill>
                <a:latin typeface="Söhne"/>
              </a:rPr>
              <a:t>)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85491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A0009-C582-4447-B781-8CE5A8FC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Impacto en las prácticas Arquitectónicas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78F2E-8CE2-4D9B-A496-1D43F1AED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Descentralización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 Movimiento hacia arquitecturas más distribuidas y descentralizadas, como en el caso de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edge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computing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 y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IoT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Escalabilidad y Flexibilidad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 Necesidad de sistemas que puedan escalar de manera eficiente y ser flexibles para adaptarse a cambios rápidos, como los impulsados por algoritmos de IA.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Seguridad y Privacidad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 Con más dispositivos conectados y una mayor recolección de datos, la seguridad y la privacidad se vuelven aún más críticas.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Interoperabilidad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 Los sistemas deben ser capaces de integrarse y comunicarse efectivamente entre diferentes plataformas y tecnologías.</a:t>
            </a:r>
          </a:p>
        </p:txBody>
      </p:sp>
    </p:spTree>
    <p:extLst>
      <p:ext uri="{BB962C8B-B14F-4D97-AF65-F5344CB8AC3E}">
        <p14:creationId xmlns:p14="http://schemas.microsoft.com/office/powerpoint/2010/main" val="3780242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1019</Words>
  <Application>Microsoft Office PowerPoint</Application>
  <PresentationFormat>Presentación en pantalla (16:9)</PresentationFormat>
  <Paragraphs>67</Paragraphs>
  <Slides>23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Montserrat</vt:lpstr>
      <vt:lpstr>Montserrat Medium</vt:lpstr>
      <vt:lpstr>Arial</vt:lpstr>
      <vt:lpstr>Söhne</vt:lpstr>
      <vt:lpstr>Calibri</vt:lpstr>
      <vt:lpstr>Wingdings</vt:lpstr>
      <vt:lpstr>Tema de Office</vt:lpstr>
      <vt:lpstr>Facultad Ciencias de la Ingeniería, Carrera Software</vt:lpstr>
      <vt:lpstr>EL GRAN VALOR  ¿Funcionalidad o Arquitectura?</vt:lpstr>
      <vt:lpstr>Presentación de PowerPoint</vt:lpstr>
      <vt:lpstr>Presentación de PowerPoint</vt:lpstr>
      <vt:lpstr>Presentación de PowerPoint</vt:lpstr>
      <vt:lpstr>¿Qué es diseño y arquitectura en el desarrollo de Software?</vt:lpstr>
      <vt:lpstr>Presentación de PowerPoint</vt:lpstr>
      <vt:lpstr>Presentación de PowerPoint</vt:lpstr>
      <vt:lpstr>¿Qué es la arquitectura de software? </vt:lpstr>
      <vt:lpstr>Patrones de arquitectura de software </vt:lpstr>
      <vt:lpstr>Patrón de capas </vt:lpstr>
      <vt:lpstr>Patrón master-slave</vt:lpstr>
      <vt:lpstr>Patrón modelo-vista-controlador (MVC)  </vt:lpstr>
      <vt:lpstr>Aspectos Claves – Trade-off</vt:lpstr>
      <vt:lpstr>Django –  Patrón Modelo - Vista- Template (MVT)  </vt:lpstr>
      <vt:lpstr>Patrón modelo-vista-controlador (MVT)  </vt:lpstr>
      <vt:lpstr>Características Claves – Aplicación MVT</vt:lpstr>
      <vt:lpstr>Aplicación Patrón MVT – Gestión de Biblioteca.  </vt:lpstr>
      <vt:lpstr>Presentación de PowerPoint</vt:lpstr>
      <vt:lpstr>Tendencias Futuras en Arquitectura de Software </vt:lpstr>
      <vt:lpstr>Arquitectura impulsada por IA </vt:lpstr>
      <vt:lpstr>Impacto en las prácticas Arquitectónicas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Facultad Ciencias de la Ingeniería, Carrera Software</dc:title>
  <dc:creator>USUARIOS</dc:creator>
  <cp:lastModifiedBy>JOSUE G</cp:lastModifiedBy>
  <cp:revision>43</cp:revision>
  <dcterms:modified xsi:type="dcterms:W3CDTF">2024-05-06T23:47:47Z</dcterms:modified>
</cp:coreProperties>
</file>